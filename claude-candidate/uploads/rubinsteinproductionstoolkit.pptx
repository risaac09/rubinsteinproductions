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4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923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600" kern="0" dirty="0">
                <a:solidFill>
                  <a:srgbClr val="A89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RUBINSTEIN PRODUCTIONS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7680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400" i="1" dirty="0">
                <a:solidFill>
                  <a:srgbClr val="F2EC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liver processes</a:t>
            </a:r>
            <a:endParaRPr lang="en-US" sz="44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4400" i="1" dirty="0">
                <a:solidFill>
                  <a:srgbClr val="F2EC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expresses.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36576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A89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open-source toolkit for facilitation, film, and honest expression.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4572000"/>
            <a:ext cx="109728" cy="109728"/>
          </a:xfrm>
          <a:prstGeom prst="ellipse">
            <a:avLst/>
          </a:prstGeom>
          <a:solidFill>
            <a:srgbClr val="C8923A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44805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89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Isaac Rubinstein  /  rubinsteinproductions.com  /  Seattle, WA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8B2E1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A89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IS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7315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600" dirty="0">
                <a:solidFill>
                  <a:srgbClr val="1A14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built this for myself.</a:t>
            </a:r>
            <a:endParaRPr lang="en-US" sz="36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3600" dirty="0">
                <a:solidFill>
                  <a:srgbClr val="1A14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works. Take what's useful.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1828800" cy="27432"/>
          </a:xfrm>
          <a:prstGeom prst="rect">
            <a:avLst/>
          </a:prstGeom>
          <a:solidFill>
            <a:srgbClr val="C8923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83464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complete operational infrastructure behind a solo facilitation and film practice — methodology, evaluation frameworks, AI prompt stack, CLI tools, production guides, and grant architecture.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0" y="914400"/>
            <a:ext cx="2286000" cy="3474720"/>
          </a:xfrm>
          <a:prstGeom prst="rect">
            <a:avLst/>
          </a:prstGeom>
          <a:solidFill>
            <a:srgbClr val="F2ECE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83680" y="10972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B2E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62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6583680" y="15087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300" kern="0" dirty="0">
                <a:solidFill>
                  <a:srgbClr val="A89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583680" y="19202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B2E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15+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583680" y="23317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300" kern="0" dirty="0">
                <a:solidFill>
                  <a:srgbClr val="A89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SKILLS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583680" y="27432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B2E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583680" y="31546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300" kern="0" dirty="0">
                <a:solidFill>
                  <a:srgbClr val="A89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TOOLS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583680" y="35661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B2E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MIT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583680" y="39776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300" kern="0" dirty="0">
                <a:solidFill>
                  <a:srgbClr val="A89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EC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A89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dirty="0">
                <a:solidFill>
                  <a:srgbClr val="1A14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phases. One principle:</a:t>
            </a:r>
            <a:endParaRPr lang="en-US" sz="28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800" dirty="0">
                <a:solidFill>
                  <a:srgbClr val="1A14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honesty becomes possible again.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2194560"/>
            <a:ext cx="1828800" cy="2560320"/>
          </a:xfrm>
          <a:prstGeom prst="rect">
            <a:avLst/>
          </a:prstGeom>
          <a:solidFill>
            <a:srgbClr val="1A1412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F2EC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68680" y="28346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F2E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68680" y="320040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2E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safety.</a:t>
            </a:r>
            <a:endParaRPr lang="en-US" sz="11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2E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the relational</a:t>
            </a:r>
            <a:endParaRPr lang="en-US" sz="11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2E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88920" y="2194560"/>
            <a:ext cx="1828800" cy="2560320"/>
          </a:xfrm>
          <a:prstGeom prst="rect">
            <a:avLst/>
          </a:prstGeom>
          <a:solidFill>
            <a:srgbClr val="8B2E1C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92608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F2EC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926080" y="28346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F2E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EXCAVATION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926080" y="320040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2E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for what's</a:t>
            </a:r>
            <a:endParaRPr lang="en-US" sz="11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2E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alive. Find the</a:t>
            </a:r>
            <a:endParaRPr lang="en-US" sz="11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2E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version.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46320" y="2194560"/>
            <a:ext cx="1828800" cy="2560320"/>
          </a:xfrm>
          <a:prstGeom prst="rect">
            <a:avLst/>
          </a:prstGeom>
          <a:solidFill>
            <a:srgbClr val="C8923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8348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A14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983480" y="28346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A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83480" y="320040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ships.</a:t>
            </a:r>
            <a:endParaRPr lang="en-US" sz="11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film themselves.</a:t>
            </a:r>
            <a:endParaRPr lang="en-US" sz="11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Truth gets captured.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903720" y="2194560"/>
            <a:ext cx="1828800" cy="2560320"/>
          </a:xfrm>
          <a:prstGeom prst="rect">
            <a:avLst/>
          </a:prstGeom>
          <a:solidFill>
            <a:srgbClr val="A89E93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04088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A14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7040880" y="28346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A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040880" y="320040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Edit. Return.</a:t>
            </a:r>
            <a:endParaRPr lang="en-US" sz="11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story travels</a:t>
            </a:r>
            <a:endParaRPr lang="en-US" sz="11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you.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A89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BILINGUAL DASHBOARD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dirty="0">
                <a:solidFill>
                  <a:srgbClr val="1A14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Measuring what matters</a:t>
            </a:r>
            <a:endParaRPr lang="en-US" sz="28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800" dirty="0">
                <a:solidFill>
                  <a:srgbClr val="1A14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two languages at once.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2011680"/>
            <a:ext cx="3657600" cy="2743200"/>
          </a:xfrm>
          <a:prstGeom prst="rect">
            <a:avLst/>
          </a:prstGeom>
          <a:solidFill>
            <a:srgbClr val="1A1412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1945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89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ROYAL METRICS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26060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A89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institutional language.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A89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funders and boards need to see.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329184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2E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 rates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2E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 scores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2E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outcome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2E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metrics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2E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deployment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2011680"/>
            <a:ext cx="3657600" cy="2743200"/>
          </a:xfrm>
          <a:prstGeom prst="rect">
            <a:avLst/>
          </a:prstGeom>
          <a:solidFill>
            <a:srgbClr val="F2ECE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21945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B2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NOMADIC INDICATORS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937760" y="26060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relational language.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emergence looks like.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937760" y="329184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Reciprocity shifts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 coherence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Somatic safety signals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Surprise emergence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sustainability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4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C8923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A89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STACK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F2EC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Everything in the repo.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2468880" cy="1463040"/>
          </a:xfrm>
          <a:prstGeom prst="rect">
            <a:avLst/>
          </a:prstGeom>
          <a:solidFill>
            <a:srgbClr val="1A1412"/>
          </a:solidFill>
          <a:ln w="6350">
            <a:solidFill>
              <a:srgbClr val="A89E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7373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92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methodology/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21031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A89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Facilitation protocol, ENIF,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A89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Nomadic Indicators, session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A89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guides, theory of change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474720" y="1645920"/>
            <a:ext cx="2468880" cy="1463040"/>
          </a:xfrm>
          <a:prstGeom prst="rect">
            <a:avLst/>
          </a:prstGeom>
          <a:solidFill>
            <a:srgbClr val="1A1412"/>
          </a:solidFill>
          <a:ln w="6350">
            <a:solidFill>
              <a:srgbClr val="A89E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11880" y="17373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92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prompts/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11880" y="21031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A89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 AI skill files, brand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A89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context, creative strategy,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A89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instantiation prompt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217920" y="1645920"/>
            <a:ext cx="2468880" cy="1463040"/>
          </a:xfrm>
          <a:prstGeom prst="rect">
            <a:avLst/>
          </a:prstGeom>
          <a:solidFill>
            <a:srgbClr val="1A1412"/>
          </a:solidFill>
          <a:ln w="6350">
            <a:solidFill>
              <a:srgbClr val="A89E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55080" y="17373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92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cli/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355080" y="21031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A89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Outreach pipeline, grant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A89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tracking, prospect mgmt.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A89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Obsidian-native, zero deps.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" y="3337560"/>
            <a:ext cx="2468880" cy="1463040"/>
          </a:xfrm>
          <a:prstGeom prst="rect">
            <a:avLst/>
          </a:prstGeom>
          <a:solidFill>
            <a:srgbClr val="1A1412"/>
          </a:solidFill>
          <a:ln w="6350">
            <a:solidFill>
              <a:srgbClr val="A89E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3429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92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templates/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68680" y="37947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A89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Prospect, funder, client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A89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onboarding, case study,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A89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dashboards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474720" y="3337560"/>
            <a:ext cx="2468880" cy="1463040"/>
          </a:xfrm>
          <a:prstGeom prst="rect">
            <a:avLst/>
          </a:prstGeom>
          <a:solidFill>
            <a:srgbClr val="1A1412"/>
          </a:solidFill>
          <a:ln w="6350">
            <a:solidFill>
              <a:srgbClr val="A89E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11880" y="3429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92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grants/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611880" y="37947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A89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of change, evaluation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A89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framework, fiscal sponsorship,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A89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funder research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17920" y="3337560"/>
            <a:ext cx="2468880" cy="1463040"/>
          </a:xfrm>
          <a:prstGeom prst="rect">
            <a:avLst/>
          </a:prstGeom>
          <a:solidFill>
            <a:srgbClr val="1A1412"/>
          </a:solidFill>
          <a:ln w="6350">
            <a:solidFill>
              <a:srgbClr val="A89E9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55080" y="3429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92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production/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355080" y="37947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A89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DaVinci Resolve workflow,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A89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grading, iPhone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A89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filming guide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EC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2E1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rgbClr val="8B2E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SAY WHY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1143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A89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NONPROFIT INITIATIVE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73736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1A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Facilitation and film for communities that have something true to say — and no infrastructure to say it.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2743200"/>
            <a:ext cx="2468880" cy="2011680"/>
          </a:xfrm>
          <a:prstGeom prst="rect">
            <a:avLst/>
          </a:prstGeom>
          <a:solidFill>
            <a:srgbClr val="FAF8F5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2743200"/>
            <a:ext cx="2468880" cy="54864"/>
          </a:xfrm>
          <a:prstGeom prst="rect">
            <a:avLst/>
          </a:prstGeom>
          <a:solidFill>
            <a:srgbClr val="8B2E1C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9718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B2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338328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Cameras go to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participants. They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 on their terms.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74720" y="2743200"/>
            <a:ext cx="2468880" cy="2011680"/>
          </a:xfrm>
          <a:prstGeom prst="rect">
            <a:avLst/>
          </a:prstGeom>
          <a:solidFill>
            <a:srgbClr val="FAF8F5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74720" y="2743200"/>
            <a:ext cx="2468880" cy="54864"/>
          </a:xfrm>
          <a:prstGeom prst="rect">
            <a:avLst/>
          </a:prstGeom>
          <a:solidFill>
            <a:srgbClr val="8B2E1C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0" y="29718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B2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57600" y="338328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Dashboard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institutional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relational outcomes.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2743200"/>
            <a:ext cx="2468880" cy="2011680"/>
          </a:xfrm>
          <a:prstGeom prst="rect">
            <a:avLst/>
          </a:prstGeom>
          <a:solidFill>
            <a:srgbClr val="FAF8F5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2743200"/>
            <a:ext cx="2468880" cy="54864"/>
          </a:xfrm>
          <a:prstGeom prst="rect">
            <a:avLst/>
          </a:prstGeom>
          <a:solidFill>
            <a:srgbClr val="8B2E1C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0" y="29718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B2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0" y="338328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footage, data,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artifacts belong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the community.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A89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FLYWHEEL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1A14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node feeds every other node.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931920" y="1417320"/>
            <a:ext cx="1280160" cy="640080"/>
          </a:xfrm>
          <a:prstGeom prst="ellipse">
            <a:avLst/>
          </a:prstGeom>
          <a:solidFill>
            <a:srgbClr val="1A1412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931920" y="141732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F2E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TOOLKIT</a:t>
            </a:r>
            <a:endParaRPr lang="en-US" sz="8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F2E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(GitHub)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674086" y="2148840"/>
            <a:ext cx="1280160" cy="640080"/>
          </a:xfrm>
          <a:prstGeom prst="ellipse">
            <a:avLst/>
          </a:prstGeom>
          <a:solidFill>
            <a:srgbClr val="1A1412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674086" y="214884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F2E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</a:t>
            </a:r>
            <a:endParaRPr lang="en-US" sz="8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F2E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(LinkedIn)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674086" y="3611880"/>
            <a:ext cx="1280160" cy="640080"/>
          </a:xfrm>
          <a:prstGeom prst="ellipse">
            <a:avLst/>
          </a:prstGeom>
          <a:solidFill>
            <a:srgbClr val="1A1412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674086" y="361188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F2E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PRACTITIONERS</a:t>
            </a:r>
            <a:endParaRPr lang="en-US" sz="8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F2E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(Community)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931920" y="4343400"/>
            <a:ext cx="1280160" cy="640080"/>
          </a:xfrm>
          <a:prstGeom prst="ellipse">
            <a:avLst/>
          </a:prstGeom>
          <a:solidFill>
            <a:srgbClr val="1A1412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931920" y="434340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F2E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GRANTS</a:t>
            </a:r>
            <a:endParaRPr lang="en-US" sz="8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F2E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(Say Why)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189754" y="3611880"/>
            <a:ext cx="1280160" cy="640080"/>
          </a:xfrm>
          <a:prstGeom prst="ellipse">
            <a:avLst/>
          </a:prstGeom>
          <a:solidFill>
            <a:srgbClr val="1A1412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189754" y="361188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F2E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ENGAGEMENTS</a:t>
            </a:r>
            <a:endParaRPr lang="en-US" sz="8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F2E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(Field Work)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189754" y="2148840"/>
            <a:ext cx="1280160" cy="640080"/>
          </a:xfrm>
          <a:prstGeom prst="ellipse">
            <a:avLst/>
          </a:prstGeom>
          <a:solidFill>
            <a:srgbClr val="1A1412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189754" y="214884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F2E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STORIES</a:t>
            </a:r>
            <a:endParaRPr lang="en-US" sz="8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F2E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(Evidence)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114800" y="2743200"/>
            <a:ext cx="914400" cy="914400"/>
          </a:xfrm>
          <a:prstGeom prst="ellipse">
            <a:avLst/>
          </a:prstGeom>
          <a:solidFill>
            <a:srgbClr val="C8923A"/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0" y="27432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4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RP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4535424" y="2359152"/>
            <a:ext cx="73152" cy="73152"/>
          </a:xfrm>
          <a:prstGeom prst="ellipse">
            <a:avLst/>
          </a:prstGeom>
          <a:solidFill>
            <a:srgbClr val="C8923A"/>
          </a:solidFill>
          <a:ln/>
        </p:spPr>
      </p:sp>
      <p:sp>
        <p:nvSpPr>
          <p:cNvPr id="19" name="Shape 17"/>
          <p:cNvSpPr/>
          <p:nvPr/>
        </p:nvSpPr>
        <p:spPr>
          <a:xfrm>
            <a:off x="5493615" y="2761488"/>
            <a:ext cx="73152" cy="73152"/>
          </a:xfrm>
          <a:prstGeom prst="ellipse">
            <a:avLst/>
          </a:prstGeom>
          <a:solidFill>
            <a:srgbClr val="C8923A"/>
          </a:solidFill>
          <a:ln/>
        </p:spPr>
      </p:sp>
      <p:sp>
        <p:nvSpPr>
          <p:cNvPr id="20" name="Shape 18"/>
          <p:cNvSpPr/>
          <p:nvPr/>
        </p:nvSpPr>
        <p:spPr>
          <a:xfrm>
            <a:off x="5493615" y="3566160"/>
            <a:ext cx="73152" cy="73152"/>
          </a:xfrm>
          <a:prstGeom prst="ellipse">
            <a:avLst/>
          </a:prstGeom>
          <a:solidFill>
            <a:srgbClr val="C8923A"/>
          </a:solidFill>
          <a:ln/>
        </p:spPr>
      </p:sp>
      <p:sp>
        <p:nvSpPr>
          <p:cNvPr id="21" name="Shape 19"/>
          <p:cNvSpPr/>
          <p:nvPr/>
        </p:nvSpPr>
        <p:spPr>
          <a:xfrm>
            <a:off x="4535424" y="3968496"/>
            <a:ext cx="73152" cy="73152"/>
          </a:xfrm>
          <a:prstGeom prst="ellipse">
            <a:avLst/>
          </a:prstGeom>
          <a:solidFill>
            <a:srgbClr val="C8923A"/>
          </a:solidFill>
          <a:ln/>
        </p:spPr>
      </p:sp>
      <p:sp>
        <p:nvSpPr>
          <p:cNvPr id="22" name="Shape 20"/>
          <p:cNvSpPr/>
          <p:nvPr/>
        </p:nvSpPr>
        <p:spPr>
          <a:xfrm>
            <a:off x="3577233" y="3566160"/>
            <a:ext cx="73152" cy="73152"/>
          </a:xfrm>
          <a:prstGeom prst="ellipse">
            <a:avLst/>
          </a:prstGeom>
          <a:solidFill>
            <a:srgbClr val="C8923A"/>
          </a:solidFill>
          <a:ln/>
        </p:spPr>
      </p:sp>
      <p:sp>
        <p:nvSpPr>
          <p:cNvPr id="23" name="Shape 21"/>
          <p:cNvSpPr/>
          <p:nvPr/>
        </p:nvSpPr>
        <p:spPr>
          <a:xfrm>
            <a:off x="3577233" y="2761488"/>
            <a:ext cx="73152" cy="73152"/>
          </a:xfrm>
          <a:prstGeom prst="ellipse">
            <a:avLst/>
          </a:prstGeom>
          <a:solidFill>
            <a:srgbClr val="C8923A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4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923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400" i="1" dirty="0">
                <a:solidFill>
                  <a:srgbClr val="F2EC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built this because</a:t>
            </a:r>
            <a:endParaRPr lang="en-US" sz="44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4400" i="1" dirty="0">
                <a:solidFill>
                  <a:srgbClr val="F2EC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enjoy building it.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731520" y="3200400"/>
            <a:ext cx="1828800" cy="27432"/>
          </a:xfrm>
          <a:prstGeom prst="rect">
            <a:avLst/>
          </a:prstGeom>
          <a:solidFill>
            <a:srgbClr val="C8923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3474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92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github.com/risaac09/rubinstein-productions-toolkit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3931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9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rubinsteinproductions.com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4572000"/>
            <a:ext cx="109728" cy="109728"/>
          </a:xfrm>
          <a:prstGeom prst="ellipse">
            <a:avLst/>
          </a:prstGeom>
          <a:solidFill>
            <a:srgbClr val="C8923A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44805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89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Isaac Rubinstein  /  Seattle, WA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Rubinstein Productions Toolkit</dc:title>
  <dc:subject>PptxGenJS Presentation</dc:subject>
  <dc:creator>Isaac Rubinstein</dc:creator>
  <cp:lastModifiedBy>Isaac Rubinstein</cp:lastModifiedBy>
  <cp:revision>1</cp:revision>
  <dcterms:created xsi:type="dcterms:W3CDTF">2026-04-04T18:36:47Z</dcterms:created>
  <dcterms:modified xsi:type="dcterms:W3CDTF">2026-04-04T18:36:47Z</dcterms:modified>
</cp:coreProperties>
</file>