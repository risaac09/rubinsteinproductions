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RUBINSTEIN PRODUCTIONS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Journey.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conversation to finished story.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of how we’ll work together.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0"/>
            <a:ext cx="109728" cy="109728"/>
          </a:xfrm>
          <a:prstGeom prst="ellipse">
            <a:avLst/>
          </a:prstGeom>
          <a:solidFill>
            <a:srgbClr val="C8923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Rubinstein  /  rubinsteinproductions.com  /  Seattle, WA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stages. One principle: honesty.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1A141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4231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found us.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6459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8B2E1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0720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807208" y="210312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07208" y="24231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talk.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16459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C8923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4748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47488" y="210312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47488" y="24231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9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listen. You see.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78040" y="16459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2ECE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8776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287768" y="210312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87768" y="24231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9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plan together.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8B2E1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66928" y="384048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416052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 happens.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97480" y="338328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1A141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807208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807208" y="384048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TRAVELS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07208" y="416052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moves without us.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38328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C8923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47488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047488" y="384048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47488" y="416052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9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door stays open.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found us.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Pre-engagement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WE’RE DOING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You’re exploring whether this approach fits your situation.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Maybe you found the toolkit, read something I wrote, or got a referral.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is the moment of noticing — something isn’t working, and you’re looking for a different kind of help.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3756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7560" y="17373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 what Rubinstein Productions does and doesn’t do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Determine if there’s enough resonance to have a conversation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commitment, no pitch — just honest assessment of fit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RECEIVE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1737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Packet — a clear overview of the methodology, what to expect, and how to take the next step.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3291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a conversation. No agenda required.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782312"/>
            <a:ext cx="7680960" cy="18288"/>
          </a:xfrm>
          <a:prstGeom prst="rect">
            <a:avLst/>
          </a:prstGeom>
          <a:solidFill>
            <a:srgbClr val="A89E93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" y="4709160"/>
            <a:ext cx="164592" cy="164592"/>
          </a:xfrm>
          <a:prstGeom prst="ellipse">
            <a:avLst/>
          </a:prstGeom>
          <a:solidFill>
            <a:srgbClr val="C8923A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49103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92938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954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  <p:sp>
        <p:nvSpPr>
          <p:cNvPr id="20" name="Shape 18"/>
          <p:cNvSpPr/>
          <p:nvPr/>
        </p:nvSpPr>
        <p:spPr>
          <a:xfrm>
            <a:off x="448970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  <p:sp>
        <p:nvSpPr>
          <p:cNvPr id="21" name="Shape 19"/>
          <p:cNvSpPr/>
          <p:nvPr/>
        </p:nvSpPr>
        <p:spPr>
          <a:xfrm>
            <a:off x="576986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  <p:sp>
        <p:nvSpPr>
          <p:cNvPr id="22" name="Shape 20"/>
          <p:cNvSpPr/>
          <p:nvPr/>
        </p:nvSpPr>
        <p:spPr>
          <a:xfrm>
            <a:off x="705002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  <p:sp>
        <p:nvSpPr>
          <p:cNvPr id="23" name="Shape 21"/>
          <p:cNvSpPr/>
          <p:nvPr/>
        </p:nvSpPr>
        <p:spPr>
          <a:xfrm>
            <a:off x="833018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8B2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talk.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WE’RE DOING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 informal conversation where we explore what’s happening in your organization.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I’m listening for what’s true — not what’s polished.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You’re assessing whether I’m someone you can trust with the real story.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3756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7560" y="17373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enough trust for honesty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whether this is a Mirror situation or something else entirely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 the actual problem, not the official version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RECEIVE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1737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formal. Just a real conversation and clarity on whether to proceed.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3291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it resonates, we schedule a Mirror Session.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782312"/>
            <a:ext cx="7680960" cy="18288"/>
          </a:xfrm>
          <a:prstGeom prst="rect">
            <a:avLst/>
          </a:prstGeom>
          <a:solidFill>
            <a:srgbClr val="A89E93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17" name="Shape 15"/>
          <p:cNvSpPr/>
          <p:nvPr/>
        </p:nvSpPr>
        <p:spPr>
          <a:xfrm>
            <a:off x="1929384" y="4709160"/>
            <a:ext cx="164592" cy="164592"/>
          </a:xfrm>
          <a:prstGeom prst="ellipse">
            <a:avLst/>
          </a:prstGeom>
          <a:solidFill>
            <a:srgbClr val="C8923A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9103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0954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  <p:sp>
        <p:nvSpPr>
          <p:cNvPr id="20" name="Shape 18"/>
          <p:cNvSpPr/>
          <p:nvPr/>
        </p:nvSpPr>
        <p:spPr>
          <a:xfrm>
            <a:off x="448970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  <p:sp>
        <p:nvSpPr>
          <p:cNvPr id="21" name="Shape 19"/>
          <p:cNvSpPr/>
          <p:nvPr/>
        </p:nvSpPr>
        <p:spPr>
          <a:xfrm>
            <a:off x="576986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  <p:sp>
        <p:nvSpPr>
          <p:cNvPr id="22" name="Shape 20"/>
          <p:cNvSpPr/>
          <p:nvPr/>
        </p:nvSpPr>
        <p:spPr>
          <a:xfrm>
            <a:off x="705002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  <p:sp>
        <p:nvSpPr>
          <p:cNvPr id="23" name="Shape 21"/>
          <p:cNvSpPr/>
          <p:nvPr/>
        </p:nvSpPr>
        <p:spPr>
          <a:xfrm>
            <a:off x="833018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89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9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listen. You see.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Container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WE’RE DOING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90-minute session where I listen deeply and reflect back what I hear.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is not consulting. I’m not diagnosing or prescribing.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goal is for you to see your own situation with fresh eyes.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3756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7560" y="17373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Surface what’s actually happening beneath the official narrative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a written synthesis (Mirror Narrative) you keep regardless of next steps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Determine if a full engagement makes sense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RECEIVE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1737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Narrative — a written synthesis of what I observed, the inside version of your story, and open questions.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3291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narrative. Sit with it. Then decide if you want to go deeper.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782312"/>
            <a:ext cx="7680960" cy="18288"/>
          </a:xfrm>
          <a:prstGeom prst="rect">
            <a:avLst/>
          </a:prstGeom>
          <a:solidFill>
            <a:srgbClr val="A89E93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17" name="Shape 15"/>
          <p:cNvSpPr/>
          <p:nvPr/>
        </p:nvSpPr>
        <p:spPr>
          <a:xfrm>
            <a:off x="192938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9544" y="4709160"/>
            <a:ext cx="164592" cy="164592"/>
          </a:xfrm>
          <a:prstGeom prst="ellipse">
            <a:avLst/>
          </a:prstGeom>
          <a:solidFill>
            <a:srgbClr val="C8923A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49103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48970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  <p:sp>
        <p:nvSpPr>
          <p:cNvPr id="21" name="Shape 19"/>
          <p:cNvSpPr/>
          <p:nvPr/>
        </p:nvSpPr>
        <p:spPr>
          <a:xfrm>
            <a:off x="576986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  <p:sp>
        <p:nvSpPr>
          <p:cNvPr id="22" name="Shape 20"/>
          <p:cNvSpPr/>
          <p:nvPr/>
        </p:nvSpPr>
        <p:spPr>
          <a:xfrm>
            <a:off x="705002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  <p:sp>
        <p:nvSpPr>
          <p:cNvPr id="23" name="Shape 21"/>
          <p:cNvSpPr/>
          <p:nvPr/>
        </p:nvSpPr>
        <p:spPr>
          <a:xfrm>
            <a:off x="833018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9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plan together.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Excavation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WE’RE DOING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 co-design the engagement based on what emerged from the Mirror.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Scope, timeline, deliverables, and investment are defined together.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 bring methodology; you bring context. Neither works alone.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3756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7560" y="17373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a scope of work grounded in what’s actually needed (not what’s conventional)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Establish the Bilingual Dashboard — what we’ll measure in both institutional and relational languages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communication cadence and shared expectations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RECEIVE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1737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Proposal + Project Roadmap — the complete plan for our work together.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3291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Sign. Pay the first installment. We begin.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782312"/>
            <a:ext cx="7680960" cy="18288"/>
          </a:xfrm>
          <a:prstGeom prst="rect">
            <a:avLst/>
          </a:prstGeom>
          <a:solidFill>
            <a:srgbClr val="A89E93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17" name="Shape 15"/>
          <p:cNvSpPr/>
          <p:nvPr/>
        </p:nvSpPr>
        <p:spPr>
          <a:xfrm>
            <a:off x="192938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954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19" name="Shape 17"/>
          <p:cNvSpPr/>
          <p:nvPr/>
        </p:nvSpPr>
        <p:spPr>
          <a:xfrm>
            <a:off x="4489704" y="4709160"/>
            <a:ext cx="164592" cy="164592"/>
          </a:xfrm>
          <a:prstGeom prst="ellipse">
            <a:avLst/>
          </a:prstGeom>
          <a:solidFill>
            <a:srgbClr val="C8923A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49103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76986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  <p:sp>
        <p:nvSpPr>
          <p:cNvPr id="22" name="Shape 20"/>
          <p:cNvSpPr/>
          <p:nvPr/>
        </p:nvSpPr>
        <p:spPr>
          <a:xfrm>
            <a:off x="705002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  <p:sp>
        <p:nvSpPr>
          <p:cNvPr id="23" name="Shape 21"/>
          <p:cNvSpPr/>
          <p:nvPr/>
        </p:nvSpPr>
        <p:spPr>
          <a:xfrm>
            <a:off x="833018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B2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 happens.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2–3: Excavation + Performance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WE’RE DOING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is the core of the engagement. Interviews, facilitation sessions, filming.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Cameras ship to participants. They film on their own terms.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We’re tracking outcomes in both registers of the Bilingual Dashboard.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3756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7560" y="17373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 the truth of what’s happening — in people’s own words and on their own terms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capacity within the organization, not dependency on me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Regular check-ins to surface what’s working and what needs to shift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RECEIVE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1737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Kit Guide + Session Prep Guides + Progress Check-Ins at regular intervals.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3291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honest. Show up. Let the process do its work.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782312"/>
            <a:ext cx="7680960" cy="18288"/>
          </a:xfrm>
          <a:prstGeom prst="rect">
            <a:avLst/>
          </a:prstGeom>
          <a:solidFill>
            <a:srgbClr val="A89E93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17" name="Shape 15"/>
          <p:cNvSpPr/>
          <p:nvPr/>
        </p:nvSpPr>
        <p:spPr>
          <a:xfrm>
            <a:off x="192938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954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19" name="Shape 17"/>
          <p:cNvSpPr/>
          <p:nvPr/>
        </p:nvSpPr>
        <p:spPr>
          <a:xfrm>
            <a:off x="448970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20" name="Shape 18"/>
          <p:cNvSpPr/>
          <p:nvPr/>
        </p:nvSpPr>
        <p:spPr>
          <a:xfrm>
            <a:off x="5769864" y="4709160"/>
            <a:ext cx="164592" cy="164592"/>
          </a:xfrm>
          <a:prstGeom prst="ellipse">
            <a:avLst/>
          </a:prstGeom>
          <a:solidFill>
            <a:srgbClr val="C8923A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49103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05002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  <p:sp>
        <p:nvSpPr>
          <p:cNvPr id="23" name="Shape 21"/>
          <p:cNvSpPr/>
          <p:nvPr/>
        </p:nvSpPr>
        <p:spPr>
          <a:xfrm>
            <a:off x="833018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TRAVELS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moves without us.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Translation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WE’RE DOING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 edit. You review. We iterate until it’s right.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story gets translated into forms that travel — film, reports, artifacts.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Everything is designed to work without me in the room.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3756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7560" y="17373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 a final product that is genuinely useful, not a trophy on a shelf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the Bilingual Dashboard Report with outcomes in both languages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Transfer all materials — footage, data, documents — to you entirely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RECEIVE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1737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2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Delivery Package + Bilingual Dashboard Report — everything we created, fully yours.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3291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it. Share it. Let the story do its work.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782312"/>
            <a:ext cx="7680960" cy="18288"/>
          </a:xfrm>
          <a:prstGeom prst="rect">
            <a:avLst/>
          </a:prstGeom>
          <a:solidFill>
            <a:srgbClr val="A89E93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17" name="Shape 15"/>
          <p:cNvSpPr/>
          <p:nvPr/>
        </p:nvSpPr>
        <p:spPr>
          <a:xfrm>
            <a:off x="192938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954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19" name="Shape 17"/>
          <p:cNvSpPr/>
          <p:nvPr/>
        </p:nvSpPr>
        <p:spPr>
          <a:xfrm>
            <a:off x="448970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20" name="Shape 18"/>
          <p:cNvSpPr/>
          <p:nvPr/>
        </p:nvSpPr>
        <p:spPr>
          <a:xfrm>
            <a:off x="576986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21" name="Shape 19"/>
          <p:cNvSpPr/>
          <p:nvPr/>
        </p:nvSpPr>
        <p:spPr>
          <a:xfrm>
            <a:off x="7050024" y="4709160"/>
            <a:ext cx="164592" cy="164592"/>
          </a:xfrm>
          <a:prstGeom prst="ellipse">
            <a:avLst/>
          </a:prstGeom>
          <a:solidFill>
            <a:srgbClr val="C892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9103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TRAVELS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330184" y="4709160"/>
            <a:ext cx="164592" cy="164592"/>
          </a:xfrm>
          <a:prstGeom prst="ellipse">
            <a:avLst/>
          </a:prstGeom>
          <a:solidFill>
            <a:srgbClr val="A89E93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89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9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9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door stays open.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Post-engagement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WE’RE DOING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formal engagement is complete. The relationship isn’t.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 offer reflections on sustaining what emerged.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you know others doing this kind of work, introductions are welcome.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3756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7560" y="17373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Ensure the work is self-sustaining without external facilitation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Maintain a relationship built on trust, not transactions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conditions for future collaboration if the moment arrives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RECEIVE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1737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+ Offboarding Letter — gratitude, forward-looking suggestions, and an open door.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3291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in touch. The best work often comes back around.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782312"/>
            <a:ext cx="7680960" cy="18288"/>
          </a:xfrm>
          <a:prstGeom prst="rect">
            <a:avLst/>
          </a:prstGeom>
          <a:solidFill>
            <a:srgbClr val="A89E93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17" name="Shape 15"/>
          <p:cNvSpPr/>
          <p:nvPr/>
        </p:nvSpPr>
        <p:spPr>
          <a:xfrm>
            <a:off x="192938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954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19" name="Shape 17"/>
          <p:cNvSpPr/>
          <p:nvPr/>
        </p:nvSpPr>
        <p:spPr>
          <a:xfrm>
            <a:off x="448970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20" name="Shape 18"/>
          <p:cNvSpPr/>
          <p:nvPr/>
        </p:nvSpPr>
        <p:spPr>
          <a:xfrm>
            <a:off x="576986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21" name="Shape 19"/>
          <p:cNvSpPr/>
          <p:nvPr/>
        </p:nvSpPr>
        <p:spPr>
          <a:xfrm>
            <a:off x="7050024" y="4709160"/>
            <a:ext cx="164592" cy="164592"/>
          </a:xfrm>
          <a:prstGeom prst="ellipse">
            <a:avLst/>
          </a:prstGeom>
          <a:solidFill>
            <a:srgbClr val="8B2E1C"/>
          </a:solidFill>
          <a:ln/>
        </p:spPr>
      </p:sp>
      <p:sp>
        <p:nvSpPr>
          <p:cNvPr id="22" name="Shape 20"/>
          <p:cNvSpPr/>
          <p:nvPr/>
        </p:nvSpPr>
        <p:spPr>
          <a:xfrm>
            <a:off x="8330184" y="4709160"/>
            <a:ext cx="164592" cy="164592"/>
          </a:xfrm>
          <a:prstGeom prst="ellipse">
            <a:avLst/>
          </a:prstGeom>
          <a:solidFill>
            <a:srgbClr val="C8923A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49103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liver processes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i="1" dirty="0">
                <a:solidFill>
                  <a:srgbClr val="F2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expresses.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Rubinstein  •  rubinsteinproductions.com  •  Seattle, WA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Rubinstein Productions — Client Journey</dc:title>
  <dc:subject>PptxGenJS Presentation</dc:subject>
  <dc:creator>Isaac Rubinstein</dc:creator>
  <cp:lastModifiedBy>Isaac Rubinstein</cp:lastModifiedBy>
  <cp:revision>1</cp:revision>
  <dcterms:created xsi:type="dcterms:W3CDTF">2026-04-04T19:02:54Z</dcterms:created>
  <dcterms:modified xsi:type="dcterms:W3CDTF">2026-04-04T19:02:54Z</dcterms:modified>
</cp:coreProperties>
</file>